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Wage rank</c:v>
                </c:pt>
              </c:strCache>
            </c:strRef>
          </c:tx>
          <c:spPr>
            <a:solidFill>
              <a:srgbClr val="EFE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F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AFCB</c:v>
                  </c:pt>
                  <c:pt idx="1">
                    <c:v>Brighton</c:v>
                  </c:pt>
                  <c:pt idx="2">
                    <c:v>Brentford</c:v>
                  </c:pt>
                  <c:pt idx="3">
                    <c:v>Forest</c:v>
                  </c:pt>
                  <c:pt idx="4">
                    <c:v>Aston Villa</c:v>
                  </c:pt>
                  <c:pt idx="5">
                    <c:v>Newcastle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</c:v>
                </c:pt>
                <c:pt idx="1">
                  <c:v>13</c:v>
                </c:pt>
                <c:pt idx="2">
                  <c:v>16</c:v>
                </c:pt>
                <c:pt idx="3">
                  <c:v>15</c:v>
                </c:pt>
                <c:pt idx="4">
                  <c:v>7</c:v>
                </c:pt>
                <c:pt idx="5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League position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F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AFCB</c:v>
                  </c:pt>
                  <c:pt idx="1">
                    <c:v>Brighton</c:v>
                  </c:pt>
                  <c:pt idx="2">
                    <c:v>Brentford</c:v>
                  </c:pt>
                  <c:pt idx="3">
                    <c:v>Forest</c:v>
                  </c:pt>
                  <c:pt idx="4">
                    <c:v>Aston Villa</c:v>
                  </c:pt>
                  <c:pt idx="5">
                    <c:v>Newcastle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</c:v>
                </c:pt>
                <c:pt idx="1">
                  <c:v>8</c:v>
                </c:pt>
                <c:pt idx="2">
                  <c:v>11</c:v>
                </c:pt>
                <c:pt idx="3">
                  <c:v>10</c:v>
                </c:pt>
                <c:pt idx="4">
                  <c:v>3</c:v>
                </c:pt>
                <c:pt idx="5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F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F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5080" cap="flat">
              <a:solidFill>
                <a:srgbClr val="EFE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1F2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6400800" cy="2286000"/>
          </a:xfrm>
          <a:prstGeom prst="rect">
            <a:avLst/>
          </a:prstGeom>
          <a:solidFill>
            <a:srgbClr val="FCF6F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548640" cy="0"/>
          </a:xfrm>
          <a:prstGeom prst="line">
            <a:avLst/>
          </a:prstGeom>
          <a:noFill/>
          <a:ln w="19050">
            <a:solidFill>
              <a:srgbClr val="FC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07040" y="548640"/>
            <a:ext cx="1097280" cy="1097280"/>
          </a:xfrm>
          <a:prstGeom prst="ellipse">
            <a:avLst/>
          </a:prstGeom>
          <a:solidFill>
            <a:srgbClr val="FCF6F5"/>
          </a:solidFill>
          <a:ln/>
        </p:spPr>
      </p:sp>
      <p:sp>
        <p:nvSpPr>
          <p:cNvPr id="6" name="Shape 4"/>
          <p:cNvSpPr/>
          <p:nvPr/>
        </p:nvSpPr>
        <p:spPr>
          <a:xfrm>
            <a:off x="10672877" y="614477"/>
            <a:ext cx="965606" cy="96560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0" y="899770"/>
            <a:ext cx="109728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100" kern="0" dirty="0">
                <a:solidFill>
                  <a:srgbClr val="FCF6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BMH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i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Cherries'</a:t>
            </a:r>
            <a:endParaRPr lang="en-US" sz="88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Playbook.</a:t>
            </a:r>
            <a:endParaRPr lang="en-US" sz="88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AFC Bournemouth built one of the Premier League's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profitable player-trading machines.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5120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Sampson · Senior Media Designer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5577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PIECE  ·  MAY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0" y="4892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£144.9m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6858000" y="58064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2025 player sales — the most for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club outside the Big Six.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EXECUTIVE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small-budget club is winning the transfer market.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371600" cy="0"/>
          </a:xfrm>
          <a:prstGeom prst="line">
            <a:avLst/>
          </a:prstGeom>
          <a:noFill/>
          <a:ln w="19050">
            <a:solidFill>
              <a:srgbClr val="9900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40280"/>
            <a:ext cx="2697480" cy="1508760"/>
          </a:xfrm>
          <a:prstGeom prst="rect">
            <a:avLst/>
          </a:prstGeom>
          <a:solidFill>
            <a:srgbClr val="FCF6F5"/>
          </a:solidFill>
          <a:ln w="6350">
            <a:solidFill>
              <a:srgbClr val="EFE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40280"/>
            <a:ext cx="54864" cy="150876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377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£144.9m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Summer '25 sales revenue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Zabarnyi, Huijsen, Kerkez, Solanke spinoffs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0" y="2240280"/>
            <a:ext cx="2697480" cy="1508760"/>
          </a:xfrm>
          <a:prstGeom prst="rect">
            <a:avLst/>
          </a:prstGeom>
          <a:solidFill>
            <a:srgbClr val="FCF6F5"/>
          </a:solidFill>
          <a:ln w="6350">
            <a:solidFill>
              <a:srgbClr val="EFE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2240280"/>
            <a:ext cx="54864" cy="150876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2377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6th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70332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PL position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03320" y="3337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in club history (May '26)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09360" y="2240280"/>
            <a:ext cx="2697480" cy="1508760"/>
          </a:xfrm>
          <a:prstGeom prst="rect">
            <a:avLst/>
          </a:prstGeom>
          <a:solidFill>
            <a:srgbClr val="FCF6F5"/>
          </a:solidFill>
          <a:ln w="6350">
            <a:solidFill>
              <a:srgbClr val="EFE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240280"/>
            <a:ext cx="54864" cy="150876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377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17th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53796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Wage bill rank in PL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3337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Outperforming spend by 11 places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44000" y="2240280"/>
            <a:ext cx="2697480" cy="1508760"/>
          </a:xfrm>
          <a:prstGeom prst="rect">
            <a:avLst/>
          </a:prstGeom>
          <a:solidFill>
            <a:srgbClr val="FCF6F5"/>
          </a:solidFill>
          <a:ln w="6350">
            <a:solidFill>
              <a:srgbClr val="EFE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2240280"/>
            <a:ext cx="54864" cy="150876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23" name="Text 21"/>
          <p:cNvSpPr/>
          <p:nvPr/>
        </p:nvSpPr>
        <p:spPr>
          <a:xfrm>
            <a:off x="9372600" y="2377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+£86m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937260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 profit on transfers '23-'26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72600" y="3337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in the division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THESIS, IN THREE LINES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4480560"/>
            <a:ext cx="411480" cy="4114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4988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88720" y="4434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 young, undervalued, with resale optionality.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35040" y="448056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recruitment from continental Europe and Championship over-performers — average buy age 22.7.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5166360"/>
            <a:ext cx="411480" cy="4114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51846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88720" y="5120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 in-game, not in-classroom.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035040" y="516636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Iraola system creates measurable on-ball value — Premier-League-grade highlight reel within 18 months.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5852160"/>
            <a:ext cx="411480" cy="4114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58704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188720" y="5806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 at the first peak. Reinvest profits.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035040" y="585216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retention bias. The club books the gain when the market peaks, then refills the squad with the proceeds.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9900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AFCB · TRANSFER POLICY DEEP DIVE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CHALLENGE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17th-richest club in the league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can't outspend the rest. Full stop.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1371600" cy="0"/>
          </a:xfrm>
          <a:prstGeom prst="line">
            <a:avLst/>
          </a:prstGeom>
          <a:noFill/>
          <a:ln w="1905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788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WAGE BILL  ·  2025-26 SEASON  (£m, est.)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City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0" y="3191256"/>
            <a:ext cx="6657975" cy="128016"/>
          </a:xfrm>
          <a:prstGeom prst="rect">
            <a:avLst/>
          </a:prstGeom>
          <a:solidFill>
            <a:srgbClr val="EFE5E1"/>
          </a:solidFill>
          <a:ln/>
        </p:spPr>
      </p:sp>
      <p:sp>
        <p:nvSpPr>
          <p:cNvPr id="8" name="Text 6"/>
          <p:cNvSpPr/>
          <p:nvPr/>
        </p:nvSpPr>
        <p:spPr>
          <a:xfrm>
            <a:off x="9446895" y="3154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£233m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33558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United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3392424"/>
            <a:ext cx="5972175" cy="128016"/>
          </a:xfrm>
          <a:prstGeom prst="rect">
            <a:avLst/>
          </a:prstGeom>
          <a:solidFill>
            <a:srgbClr val="EFE5E1"/>
          </a:solidFill>
          <a:ln/>
        </p:spPr>
      </p:sp>
      <p:sp>
        <p:nvSpPr>
          <p:cNvPr id="11" name="Text 9"/>
          <p:cNvSpPr/>
          <p:nvPr/>
        </p:nvSpPr>
        <p:spPr>
          <a:xfrm>
            <a:off x="8761095" y="33558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£209m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3557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Chelsea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0" y="3593592"/>
            <a:ext cx="4772025" cy="128016"/>
          </a:xfrm>
          <a:prstGeom prst="rect">
            <a:avLst/>
          </a:prstGeom>
          <a:solidFill>
            <a:srgbClr val="EFE5E1"/>
          </a:solidFill>
          <a:ln/>
        </p:spPr>
      </p:sp>
      <p:sp>
        <p:nvSpPr>
          <p:cNvPr id="14" name="Text 12"/>
          <p:cNvSpPr/>
          <p:nvPr/>
        </p:nvSpPr>
        <p:spPr>
          <a:xfrm>
            <a:off x="7560945" y="35570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£167m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3758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Arsenal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0" y="3794760"/>
            <a:ext cx="4714875" cy="128016"/>
          </a:xfrm>
          <a:prstGeom prst="rect">
            <a:avLst/>
          </a:prstGeom>
          <a:solidFill>
            <a:srgbClr val="EFE5E1"/>
          </a:solidFill>
          <a:ln/>
        </p:spPr>
      </p:sp>
      <p:sp>
        <p:nvSpPr>
          <p:cNvPr id="17" name="Text 15"/>
          <p:cNvSpPr/>
          <p:nvPr/>
        </p:nvSpPr>
        <p:spPr>
          <a:xfrm>
            <a:off x="7503795" y="3758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£165m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39593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Liverpool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0" y="3995928"/>
            <a:ext cx="4629150" cy="128016"/>
          </a:xfrm>
          <a:prstGeom prst="rect">
            <a:avLst/>
          </a:prstGeom>
          <a:solidFill>
            <a:srgbClr val="EFE5E1"/>
          </a:solidFill>
          <a:ln/>
        </p:spPr>
      </p:sp>
      <p:sp>
        <p:nvSpPr>
          <p:cNvPr id="20" name="Text 18"/>
          <p:cNvSpPr/>
          <p:nvPr/>
        </p:nvSpPr>
        <p:spPr>
          <a:xfrm>
            <a:off x="7418070" y="39593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£162m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" y="4160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Tottenham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0" y="4197096"/>
            <a:ext cx="4143375" cy="128016"/>
          </a:xfrm>
          <a:prstGeom prst="rect">
            <a:avLst/>
          </a:prstGeom>
          <a:solidFill>
            <a:srgbClr val="EFE5E1"/>
          </a:solidFill>
          <a:ln/>
        </p:spPr>
      </p:sp>
      <p:sp>
        <p:nvSpPr>
          <p:cNvPr id="23" name="Text 21"/>
          <p:cNvSpPr/>
          <p:nvPr/>
        </p:nvSpPr>
        <p:spPr>
          <a:xfrm>
            <a:off x="6932295" y="41605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£145m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4361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0" y="43616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45628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Aston Villa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0" y="4599432"/>
            <a:ext cx="3429000" cy="128016"/>
          </a:xfrm>
          <a:prstGeom prst="rect">
            <a:avLst/>
          </a:prstGeom>
          <a:solidFill>
            <a:srgbClr val="EFE5E1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45628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£120m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0080" y="47640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Ham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0" y="4800600"/>
            <a:ext cx="2828925" cy="128016"/>
          </a:xfrm>
          <a:prstGeom prst="rect">
            <a:avLst/>
          </a:prstGeom>
          <a:solidFill>
            <a:srgbClr val="EFE5E1"/>
          </a:solidFill>
          <a:ln/>
        </p:spPr>
      </p:sp>
      <p:sp>
        <p:nvSpPr>
          <p:cNvPr id="31" name="Text 29"/>
          <p:cNvSpPr/>
          <p:nvPr/>
        </p:nvSpPr>
        <p:spPr>
          <a:xfrm>
            <a:off x="5617845" y="47640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£99m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080" y="49651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Newcastle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0" y="5001768"/>
            <a:ext cx="2543175" cy="128016"/>
          </a:xfrm>
          <a:prstGeom prst="rect">
            <a:avLst/>
          </a:prstGeom>
          <a:solidFill>
            <a:srgbClr val="EFE5E1"/>
          </a:solidFill>
          <a:ln/>
        </p:spPr>
      </p:sp>
      <p:sp>
        <p:nvSpPr>
          <p:cNvPr id="34" name="Text 32"/>
          <p:cNvSpPr/>
          <p:nvPr/>
        </p:nvSpPr>
        <p:spPr>
          <a:xfrm>
            <a:off x="5332095" y="49651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£89m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0080" y="5166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0" y="5166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" y="5367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 Bournemouth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0" y="5404104"/>
            <a:ext cx="1400175" cy="128016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9" name="Text 37"/>
          <p:cNvSpPr/>
          <p:nvPr/>
        </p:nvSpPr>
        <p:spPr>
          <a:xfrm>
            <a:off x="4189095" y="53675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£49m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0058400" y="3154680"/>
            <a:ext cx="1645920" cy="2423160"/>
          </a:xfrm>
          <a:prstGeom prst="rect">
            <a:avLst/>
          </a:prstGeom>
          <a:solidFill>
            <a:srgbClr val="660005"/>
          </a:solidFill>
          <a:ln/>
        </p:spPr>
      </p:sp>
      <p:sp>
        <p:nvSpPr>
          <p:cNvPr id="41" name="Text 39"/>
          <p:cNvSpPr/>
          <p:nvPr/>
        </p:nvSpPr>
        <p:spPr>
          <a:xfrm>
            <a:off x="10149840" y="3291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£184m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10149840" y="40233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 gap to Manchester City. Bournemouth spends 21% of City's payroll and finishes within 12 league places.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" y="5806440"/>
            <a:ext cx="10972800" cy="502920"/>
          </a:xfrm>
          <a:prstGeom prst="rect">
            <a:avLst/>
          </a:prstGeom>
          <a:solidFill>
            <a:srgbClr val="0E1A36"/>
          </a:solidFill>
          <a:ln/>
        </p:spPr>
      </p:sp>
      <p:sp>
        <p:nvSpPr>
          <p:cNvPr id="44" name="Text 42"/>
          <p:cNvSpPr/>
          <p:nvPr/>
        </p:nvSpPr>
        <p:spPr>
          <a:xfrm>
            <a:off x="868680" y="58795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103120" y="58978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can't out-spend, you out-think. Bournemouth reframed the question from "who can we afford?" to "who will be worth more in 18 months?"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99001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AFCB · TRANSFER POLICY DEEP DIVE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three-stage trading engine.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371600" cy="0"/>
          </a:xfrm>
          <a:prstGeom prst="line">
            <a:avLst/>
          </a:prstGeom>
          <a:noFill/>
          <a:ln w="1905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57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stage has clear ownership, a measurable output, and a hand-off. The engine compounds.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FE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606040"/>
            <a:ext cx="3657600" cy="73152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Acquire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 young, with optionality.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160520"/>
            <a:ext cx="914400" cy="0"/>
          </a:xfrm>
          <a:prstGeom prst="line">
            <a:avLst/>
          </a:prstGeom>
          <a:noFill/>
          <a:ln w="12700">
            <a:solidFill>
              <a:srgbClr val="9900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297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0" y="4526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PINTO + DATA TEAM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8920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aged 19-23 from continental Europe and high-pressure Championship/Bundesliga 2 environments. Average buy fee under £15m. Specific positional gaps mapped to Iraola's 4-2-3-1 press requirements.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5852160"/>
            <a:ext cx="1508760" cy="365760"/>
          </a:xfrm>
          <a:prstGeom prst="rect">
            <a:avLst/>
          </a:prstGeom>
          <a:solidFill>
            <a:srgbClr val="FCF6F5"/>
          </a:solidFill>
          <a:ln w="6350">
            <a:solidFill>
              <a:srgbClr val="EFE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9788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AGE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005840" y="60167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06040" y="5852160"/>
            <a:ext cx="1508760" cy="365760"/>
          </a:xfrm>
          <a:prstGeom prst="rect">
            <a:avLst/>
          </a:prstGeom>
          <a:solidFill>
            <a:srgbClr val="FCF6F5"/>
          </a:solidFill>
          <a:ln w="6350">
            <a:solidFill>
              <a:srgbClr val="EFE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589788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FEE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97480" y="60167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£14.2m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34840" y="260604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FE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2606040"/>
            <a:ext cx="3657600" cy="73152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3154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709160" y="3703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On-ball value, fast.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09160" y="4160520"/>
            <a:ext cx="914400" cy="0"/>
          </a:xfrm>
          <a:prstGeom prst="line">
            <a:avLst/>
          </a:prstGeom>
          <a:noFill/>
          <a:ln w="12700">
            <a:solidFill>
              <a:srgbClr val="9900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4297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09160" y="4526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IRAOLA + COACHING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9160" y="48920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High-intensity, possession-aggressive system that creates highlight-reel moments. Players gain measurable on-ball value (carries, take-ons, progressive passes) within 18 months — the metrics that move scout sheets at top clubs.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5852160"/>
            <a:ext cx="1508760" cy="365760"/>
          </a:xfrm>
          <a:prstGeom prst="rect">
            <a:avLst/>
          </a:prstGeom>
          <a:solidFill>
            <a:srgbClr val="FCF6F5"/>
          </a:solidFill>
          <a:ln w="6350">
            <a:solidFill>
              <a:srgbClr val="EFE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589788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TENURE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00600" y="60167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 mo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5852160"/>
            <a:ext cx="1508760" cy="365760"/>
          </a:xfrm>
          <a:prstGeom prst="rect">
            <a:avLst/>
          </a:prstGeom>
          <a:solidFill>
            <a:srgbClr val="FCF6F5"/>
          </a:solidFill>
          <a:ln w="6350">
            <a:solidFill>
              <a:srgbClr val="EFE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589788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G+A UPLIFT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492240" y="60167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+47%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229600" y="260604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FE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0" y="2606040"/>
            <a:ext cx="3657600" cy="73152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503920" y="3154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8503920" y="3703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peak. No sentiment.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503920" y="4160520"/>
            <a:ext cx="914400" cy="0"/>
          </a:xfrm>
          <a:prstGeom prst="line">
            <a:avLst/>
          </a:prstGeom>
          <a:noFill/>
          <a:ln w="12700">
            <a:solidFill>
              <a:srgbClr val="9900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03920" y="4297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503920" y="4526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FOLEY + PINTO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503920" y="48920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triggered by data-driven valuation — once a player reaches their statistical peak and has a top-club suitor, the conversation begins. No retention bias. Buy-back clauses and sell-on percentages standard.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503920" y="5852160"/>
            <a:ext cx="1508760" cy="365760"/>
          </a:xfrm>
          <a:prstGeom prst="rect">
            <a:avLst/>
          </a:prstGeom>
          <a:solidFill>
            <a:srgbClr val="FCF6F5"/>
          </a:solidFill>
          <a:ln w="6350">
            <a:solidFill>
              <a:srgbClr val="EFE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95360" y="589788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595360" y="60167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£37m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0195560" y="5852160"/>
            <a:ext cx="1508760" cy="365760"/>
          </a:xfrm>
          <a:prstGeom prst="rect">
            <a:avLst/>
          </a:prstGeom>
          <a:solidFill>
            <a:srgbClr val="FCF6F5"/>
          </a:solidFill>
          <a:ln w="6350">
            <a:solidFill>
              <a:srgbClr val="EFE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287000" y="589788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0287000" y="60167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2.6x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99001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AFCB · TRANSFER POLICY DEEP DIVE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ORGANIZATION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voices, one model.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371600" cy="0"/>
          </a:xfrm>
          <a:prstGeom prst="line">
            <a:avLst/>
          </a:prstGeom>
          <a:noFill/>
          <a:ln w="1905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57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 need owner sign-off, sporting director vision, and head coach veto. Anything else is rejected.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3657600" cy="3657600"/>
          </a:xfrm>
          <a:prstGeom prst="rect">
            <a:avLst/>
          </a:prstGeom>
          <a:solidFill>
            <a:srgbClr val="0E1A36"/>
          </a:solidFill>
          <a:ln/>
        </p:spPr>
      </p:sp>
      <p:sp>
        <p:nvSpPr>
          <p:cNvPr id="7" name="Shape 5"/>
          <p:cNvSpPr/>
          <p:nvPr/>
        </p:nvSpPr>
        <p:spPr>
          <a:xfrm>
            <a:off x="1874520" y="2971800"/>
            <a:ext cx="1188720" cy="1188720"/>
          </a:xfrm>
          <a:prstGeom prst="ellipse">
            <a:avLst/>
          </a:prstGeom>
          <a:solidFill>
            <a:srgbClr val="660005"/>
          </a:solidFill>
          <a:ln w="19050">
            <a:solidFill>
              <a:srgbClr val="C832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0" y="3063240"/>
            <a:ext cx="1005840" cy="10058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3200400"/>
            <a:ext cx="640080" cy="640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880360" y="3794760"/>
            <a:ext cx="457200" cy="457200"/>
          </a:xfrm>
          <a:prstGeom prst="ellipse">
            <a:avLst/>
          </a:prstGeom>
          <a:solidFill>
            <a:srgbClr val="FCF6F5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80360" y="38587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BF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C8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14400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 Foley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14400" y="4937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Chairman, Black Knight Football Club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14400" y="53492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AFCB Dec 2022. Capital allocator. Sets transfer envelope and PSR strategy. Operates a multi-club portfolio (Lorient, Hibernian, Auckland).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434840" y="2697480"/>
            <a:ext cx="3657600" cy="3657600"/>
          </a:xfrm>
          <a:prstGeom prst="rect">
            <a:avLst/>
          </a:prstGeom>
          <a:solidFill>
            <a:srgbClr val="0E1A36"/>
          </a:solidFill>
          <a:ln/>
        </p:spPr>
      </p:sp>
      <p:sp>
        <p:nvSpPr>
          <p:cNvPr id="17" name="Shape 14"/>
          <p:cNvSpPr/>
          <p:nvPr/>
        </p:nvSpPr>
        <p:spPr>
          <a:xfrm>
            <a:off x="5669280" y="2971800"/>
            <a:ext cx="1188720" cy="1188720"/>
          </a:xfrm>
          <a:prstGeom prst="ellipse">
            <a:avLst/>
          </a:prstGeom>
          <a:solidFill>
            <a:srgbClr val="660005"/>
          </a:solidFill>
          <a:ln w="19050">
            <a:solidFill>
              <a:srgbClr val="C8323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720" y="3063240"/>
            <a:ext cx="1005840" cy="10058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200400"/>
            <a:ext cx="640080" cy="64008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675120" y="3794760"/>
            <a:ext cx="457200" cy="457200"/>
          </a:xfrm>
          <a:prstGeom prst="ellipse">
            <a:avLst/>
          </a:prstGeom>
          <a:solidFill>
            <a:srgbClr val="FCF6F5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675120" y="38587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TP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70916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C8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FOOTBALL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709160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Tiago Pinto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4709160" y="4937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April 2024 (ex-Roma, Benfica)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709160" y="53492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football decisions. Owns recruitment shortlist, agent negotiation, and squad architecture. Pinto's Benfica era set the template — buy from feeder leagues, sell to giants.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229600" y="2697480"/>
            <a:ext cx="3657600" cy="3657600"/>
          </a:xfrm>
          <a:prstGeom prst="rect">
            <a:avLst/>
          </a:prstGeom>
          <a:solidFill>
            <a:srgbClr val="0E1A36"/>
          </a:solidFill>
          <a:ln/>
        </p:spPr>
      </p:sp>
      <p:sp>
        <p:nvSpPr>
          <p:cNvPr id="27" name="Shape 23"/>
          <p:cNvSpPr/>
          <p:nvPr/>
        </p:nvSpPr>
        <p:spPr>
          <a:xfrm>
            <a:off x="9464040" y="2971800"/>
            <a:ext cx="1188720" cy="1188720"/>
          </a:xfrm>
          <a:prstGeom prst="ellipse">
            <a:avLst/>
          </a:prstGeom>
          <a:solidFill>
            <a:srgbClr val="660005"/>
          </a:solidFill>
          <a:ln w="19050">
            <a:solidFill>
              <a:srgbClr val="C8323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9555480" y="3063240"/>
            <a:ext cx="1005840" cy="10058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3200400"/>
            <a:ext cx="640080" cy="64008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10469880" y="3794760"/>
            <a:ext cx="457200" cy="457200"/>
          </a:xfrm>
          <a:prstGeom prst="ellipse">
            <a:avLst/>
          </a:prstGeom>
          <a:solidFill>
            <a:srgbClr val="FCF6F5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10469880" y="38587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850392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C8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COACH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8503920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Andoni Iraola</a:t>
            </a:r>
            <a:endParaRPr lang="en-US" sz="2200" dirty="0"/>
          </a:p>
        </p:txBody>
      </p:sp>
      <p:sp>
        <p:nvSpPr>
          <p:cNvPr id="34" name="Text 29"/>
          <p:cNvSpPr/>
          <p:nvPr/>
        </p:nvSpPr>
        <p:spPr>
          <a:xfrm>
            <a:off x="8503920" y="4937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June 2023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8503920" y="53492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Style-fit veto. Iraola's high-press 4-2-3-1 is non-negotiable; recruitment must serve it. Specific physical and on-ball thresholds for every position.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990011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AFCB · TRANSFER POLICY DEEP DIVE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TRANSFERS OUT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Summer '25: a £144.9m exit window.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371600" cy="0"/>
          </a:xfrm>
          <a:prstGeom prst="line">
            <a:avLst/>
          </a:prstGeom>
          <a:noFill/>
          <a:ln w="1905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57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sales to top European clubs in one window. None disrupted the league campaign that followed.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10972800" cy="411480"/>
          </a:xfrm>
          <a:prstGeom prst="rect">
            <a:avLst/>
          </a:prstGeom>
          <a:solidFill>
            <a:srgbClr val="0E1A3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3504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0664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77824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33272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10972800" cy="457200"/>
          </a:xfrm>
          <a:prstGeom prst="rect">
            <a:avLst/>
          </a:prstGeom>
          <a:solidFill>
            <a:srgbClr val="FCF6F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91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Illia Zabarnyi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3291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0" y="3291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3291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£24m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06640" y="3291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£57m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778240" y="3291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+£33m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332720" y="3291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2.4×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703320"/>
            <a:ext cx="10972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Dean Huijsen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6032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Madrid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£12.6m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0664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£50m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77824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+£37.4m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33272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4.0×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solidFill>
            <a:srgbClr val="FCF6F5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Milos Kerkez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56032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9768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Liverpool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3504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£15.5m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0664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£40m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77824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+£24.5m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33272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2.6×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4709160"/>
            <a:ext cx="10972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Dominic Solanke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560320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297680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Tottenham (Aug '24)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35040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£19m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406640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£65m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778240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+£46m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332720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3.4×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solidFill>
            <a:srgbClr val="FCF6F5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5303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560320" y="5303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297680" y="5303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Various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035040" y="5303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06640" y="5303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£17.9m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778240" y="5303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332720" y="5303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40080" y="5715000"/>
            <a:ext cx="10972800" cy="502920"/>
          </a:xfrm>
          <a:prstGeom prst="rect">
            <a:avLst/>
          </a:prstGeom>
          <a:solidFill>
            <a:srgbClr val="660005"/>
          </a:solidFill>
          <a:ln/>
        </p:spPr>
      </p:sp>
      <p:sp>
        <p:nvSpPr>
          <p:cNvPr id="55" name="Text 53"/>
          <p:cNvSpPr/>
          <p:nvPr/>
        </p:nvSpPr>
        <p:spPr>
          <a:xfrm>
            <a:off x="731520" y="5852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· 4 NAMED + AGGREGATE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406640" y="5806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£229.9m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8778240" y="5806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+£140.9m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99001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AFCB · TRANSFER POLICY DEEP DIVE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TRANSFERS 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Reinvested at scale. Targeted everywhere.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371600" cy="0"/>
          </a:xfrm>
          <a:prstGeom prst="line">
            <a:avLst/>
          </a:prstGeom>
          <a:noFill/>
          <a:ln w="1905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94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NEW SIGNINGS  ·  SUMMER '25  ·  £m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2743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Petrović (GK, Chelsea)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2697480"/>
            <a:ext cx="1792224" cy="23774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8" name="Text 6"/>
          <p:cNvSpPr/>
          <p:nvPr/>
        </p:nvSpPr>
        <p:spPr>
          <a:xfrm>
            <a:off x="5312664" y="2606040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£14m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38160" y="2606040"/>
            <a:ext cx="3657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→ starter pipeline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026664"/>
            <a:ext cx="2743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Truffert (LB, Rennes)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3118104"/>
            <a:ext cx="2304288" cy="23774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2" name="Text 10"/>
          <p:cNvSpPr/>
          <p:nvPr/>
        </p:nvSpPr>
        <p:spPr>
          <a:xfrm>
            <a:off x="5824728" y="3026664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£18m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38160" y="3026664"/>
            <a:ext cx="3657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Kerkez replacement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3447288"/>
            <a:ext cx="2743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Milosavljević (CB, Red Star)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3538728"/>
            <a:ext cx="1536192" cy="23774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5056632" y="3447288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£12m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38160" y="3447288"/>
            <a:ext cx="3657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Huijsen replacement, U-19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3867912"/>
            <a:ext cx="2743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Kroupi (ST, Lorient)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0" y="3959352"/>
            <a:ext cx="1792224" cy="23774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20" name="Text 18"/>
          <p:cNvSpPr/>
          <p:nvPr/>
        </p:nvSpPr>
        <p:spPr>
          <a:xfrm>
            <a:off x="5312664" y="3867912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£14m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38160" y="3867912"/>
            <a:ext cx="3657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Multi-club graduate, Solanke depth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4288536"/>
            <a:ext cx="2743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Ünal (ST, Getafe)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0" y="4379976"/>
            <a:ext cx="2432304" cy="23774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24" name="Text 22"/>
          <p:cNvSpPr/>
          <p:nvPr/>
        </p:nvSpPr>
        <p:spPr>
          <a:xfrm>
            <a:off x="5952744" y="4288536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£19m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38160" y="4288536"/>
            <a:ext cx="3657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Striker rotation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4709160"/>
            <a:ext cx="2743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Diakité (CB, Sunderland)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0" y="4800600"/>
            <a:ext cx="2816352" cy="23774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28" name="Text 26"/>
          <p:cNvSpPr/>
          <p:nvPr/>
        </p:nvSpPr>
        <p:spPr>
          <a:xfrm>
            <a:off x="6336792" y="4709160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£22m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38160" y="4709160"/>
            <a:ext cx="3657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PL-ready CB pairing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349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£99m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914400" y="5989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SPEND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0" y="5440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£144.9m − £99m  =  +£45.9m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657600" y="5897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cash positive.   Squad rebuilt.   Six U-26 internationals added.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9900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AFCB · TRANSFER POLICY DEEP DIVE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MULTI-CLUB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Bournemouth doesn't play alone.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371600" cy="0"/>
          </a:xfrm>
          <a:prstGeom prst="line">
            <a:avLst/>
          </a:prstGeom>
          <a:noFill/>
          <a:ln w="1905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57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Black Knight Football Club operates AFCB plus three feeder/sister clubs across Europe and Oceania.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3657600" cy="1965960"/>
          </a:xfrm>
          <a:prstGeom prst="rect">
            <a:avLst/>
          </a:prstGeom>
          <a:solidFill>
            <a:srgbClr val="FCF6F5"/>
          </a:solidFill>
          <a:ln w="6350">
            <a:solidFill>
              <a:srgbClr val="EFE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651760"/>
            <a:ext cx="54864" cy="196596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0" y="2788920"/>
            <a:ext cx="685800" cy="68580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9" name="Shape 7"/>
          <p:cNvSpPr/>
          <p:nvPr/>
        </p:nvSpPr>
        <p:spPr>
          <a:xfrm>
            <a:off x="3515868" y="2830068"/>
            <a:ext cx="603504" cy="603504"/>
          </a:xfrm>
          <a:prstGeom prst="ellipse">
            <a:avLst/>
          </a:prstGeom>
          <a:solidFill>
            <a:srgbClr val="F45F00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3008376"/>
            <a:ext cx="6858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28163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FC LORIENT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Lorient · France · Ligue 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354787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sandbox; French market access; loan path for young attackers.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43434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Dec 2024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34840" y="2651760"/>
            <a:ext cx="3657600" cy="1965960"/>
          </a:xfrm>
          <a:prstGeom prst="rect">
            <a:avLst/>
          </a:prstGeom>
          <a:solidFill>
            <a:srgbClr val="FCF6F5"/>
          </a:solidFill>
          <a:ln w="6350">
            <a:solidFill>
              <a:srgbClr val="EFE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2651760"/>
            <a:ext cx="54864" cy="196596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7" name="Shape 15"/>
          <p:cNvSpPr/>
          <p:nvPr/>
        </p:nvSpPr>
        <p:spPr>
          <a:xfrm>
            <a:off x="7269480" y="2788920"/>
            <a:ext cx="685800" cy="685800"/>
          </a:xfrm>
          <a:prstGeom prst="ellipse">
            <a:avLst/>
          </a:prstGeom>
          <a:solidFill>
            <a:srgbClr val="23B7CD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0628" y="2830068"/>
            <a:ext cx="603504" cy="603504"/>
          </a:xfrm>
          <a:prstGeom prst="ellipse">
            <a:avLst/>
          </a:prstGeom>
          <a:solidFill>
            <a:srgbClr val="0A2B57"/>
          </a:solidFill>
          <a:ln/>
        </p:spPr>
      </p:sp>
      <p:sp>
        <p:nvSpPr>
          <p:cNvPr id="19" name="Text 17"/>
          <p:cNvSpPr/>
          <p:nvPr/>
        </p:nvSpPr>
        <p:spPr>
          <a:xfrm>
            <a:off x="7269480" y="3008376"/>
            <a:ext cx="6858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100" kern="0" dirty="0">
                <a:solidFill>
                  <a:srgbClr val="23B7C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AKL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663440" y="28163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AUCKLAND FC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663440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Auckland · New Zealand · A-League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63440" y="354787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scouting and shirt visibility; Pacific market footprint.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63440" y="43434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May 2024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29600" y="2651760"/>
            <a:ext cx="3657600" cy="1965960"/>
          </a:xfrm>
          <a:prstGeom prst="rect">
            <a:avLst/>
          </a:prstGeom>
          <a:solidFill>
            <a:srgbClr val="FCF6F5"/>
          </a:solidFill>
          <a:ln w="6350">
            <a:solidFill>
              <a:srgbClr val="EFE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2651760"/>
            <a:ext cx="54864" cy="196596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26" name="Shape 24"/>
          <p:cNvSpPr/>
          <p:nvPr/>
        </p:nvSpPr>
        <p:spPr>
          <a:xfrm>
            <a:off x="11064240" y="27889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1105388" y="2830068"/>
            <a:ext cx="603504" cy="603504"/>
          </a:xfrm>
          <a:prstGeom prst="ellipse">
            <a:avLst/>
          </a:prstGeom>
          <a:solidFill>
            <a:srgbClr val="0E5E2A"/>
          </a:solidFill>
          <a:ln/>
        </p:spPr>
      </p:sp>
      <p:sp>
        <p:nvSpPr>
          <p:cNvPr id="28" name="Text 26"/>
          <p:cNvSpPr/>
          <p:nvPr/>
        </p:nvSpPr>
        <p:spPr>
          <a:xfrm>
            <a:off x="11064240" y="3008376"/>
            <a:ext cx="6858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HIB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458200" y="28163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HIBERNIAN FC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458200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Edinburgh · Scotland · Premiership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458200" y="354787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talent stage; European football &amp; first-team minutes.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458200" y="43434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Aug 2024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32120" y="4846320"/>
            <a:ext cx="1097280" cy="1097280"/>
          </a:xfrm>
          <a:prstGeom prst="ellipse">
            <a:avLst/>
          </a:prstGeom>
          <a:solidFill>
            <a:srgbClr val="FCF6F5"/>
          </a:solidFill>
          <a:ln/>
        </p:spPr>
      </p:sp>
      <p:sp>
        <p:nvSpPr>
          <p:cNvPr id="34" name="Shape 32"/>
          <p:cNvSpPr/>
          <p:nvPr/>
        </p:nvSpPr>
        <p:spPr>
          <a:xfrm>
            <a:off x="5597957" y="4912157"/>
            <a:ext cx="965606" cy="96560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5" name="Text 33"/>
          <p:cNvSpPr/>
          <p:nvPr/>
        </p:nvSpPr>
        <p:spPr>
          <a:xfrm>
            <a:off x="5532120" y="5197450"/>
            <a:ext cx="109728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100" kern="0" dirty="0">
                <a:solidFill>
                  <a:srgbClr val="FCF6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BMH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4572000" y="5989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spc="300" kern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hub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80760" y="4846320"/>
            <a:ext cx="-3611880" cy="-228600"/>
          </a:xfrm>
          <a:prstGeom prst="line">
            <a:avLst/>
          </a:prstGeom>
          <a:noFill/>
          <a:ln w="12700">
            <a:solidFill>
              <a:srgbClr val="990011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6080760" y="4846320"/>
            <a:ext cx="182880" cy="-228600"/>
          </a:xfrm>
          <a:prstGeom prst="line">
            <a:avLst/>
          </a:prstGeom>
          <a:noFill/>
          <a:ln w="12700">
            <a:solidFill>
              <a:srgbClr val="990011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6080760" y="4846320"/>
            <a:ext cx="3977640" cy="-228600"/>
          </a:xfrm>
          <a:prstGeom prst="line">
            <a:avLst/>
          </a:prstGeom>
          <a:noFill/>
          <a:ln w="12700">
            <a:solidFill>
              <a:srgbClr val="990011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640080" y="5715000"/>
            <a:ext cx="10972800" cy="594360"/>
          </a:xfrm>
          <a:prstGeom prst="rect">
            <a:avLst/>
          </a:prstGeom>
          <a:solidFill>
            <a:srgbClr val="0E1A36"/>
          </a:solidFill>
          <a:ln/>
        </p:spPr>
      </p:sp>
      <p:sp>
        <p:nvSpPr>
          <p:cNvPr id="41" name="Text 39"/>
          <p:cNvSpPr/>
          <p:nvPr/>
        </p:nvSpPr>
        <p:spPr>
          <a:xfrm>
            <a:off x="868680" y="58155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103120" y="5852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Players cycle: Hibernian/Lorient develop → Bournemouth promotes → Top European clubs buy. Auckland is brand and scouting.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99001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AFCB · TRANSFER POLICY DEEP DIVE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EFFICIENCY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Bournemouth gets more table from less wage.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371600" cy="0"/>
          </a:xfrm>
          <a:prstGeom prst="line">
            <a:avLst/>
          </a:prstGeom>
          <a:noFill/>
          <a:ln w="1905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945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 BILL RANK  vs.  LEAGUE POSITION  ·  2025-26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60120" y="2542032"/>
            <a:ext cx="310896" cy="310896"/>
          </a:xfrm>
          <a:prstGeom prst="ellipse">
            <a:avLst/>
          </a:prstGeom>
          <a:solidFill>
            <a:srgbClr val="FCF6F5"/>
          </a:solidFill>
          <a:ln/>
        </p:spPr>
      </p:sp>
      <p:sp>
        <p:nvSpPr>
          <p:cNvPr id="7" name="Shape 5"/>
          <p:cNvSpPr/>
          <p:nvPr/>
        </p:nvSpPr>
        <p:spPr>
          <a:xfrm>
            <a:off x="996696" y="2578608"/>
            <a:ext cx="237744" cy="23774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641519"/>
            <a:ext cx="310896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CF6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BMH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157984" y="2542032"/>
            <a:ext cx="310896" cy="310896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2578608"/>
            <a:ext cx="237744" cy="237744"/>
          </a:xfrm>
          <a:prstGeom prst="ellipse">
            <a:avLst/>
          </a:prstGeom>
          <a:solidFill>
            <a:srgbClr val="0057B7"/>
          </a:solidFill>
          <a:ln/>
        </p:spPr>
      </p:sp>
      <p:sp>
        <p:nvSpPr>
          <p:cNvPr id="11" name="Text 9"/>
          <p:cNvSpPr/>
          <p:nvPr/>
        </p:nvSpPr>
        <p:spPr>
          <a:xfrm>
            <a:off x="2157984" y="2641519"/>
            <a:ext cx="310896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BHA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355848" y="2542032"/>
            <a:ext cx="310896" cy="310896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3" name="Shape 11"/>
          <p:cNvSpPr/>
          <p:nvPr/>
        </p:nvSpPr>
        <p:spPr>
          <a:xfrm>
            <a:off x="3392424" y="2578608"/>
            <a:ext cx="237744" cy="23774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3355848" y="2641519"/>
            <a:ext cx="310896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BFC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553712" y="254203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90288" y="2578608"/>
            <a:ext cx="237744" cy="237744"/>
          </a:xfrm>
          <a:prstGeom prst="ellipse">
            <a:avLst/>
          </a:prstGeom>
          <a:solidFill>
            <a:srgbClr val="DD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53712" y="2641519"/>
            <a:ext cx="310896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NFO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751576" y="2542032"/>
            <a:ext cx="310896" cy="310896"/>
          </a:xfrm>
          <a:prstGeom prst="ellipse">
            <a:avLst/>
          </a:prstGeom>
          <a:solidFill>
            <a:srgbClr val="8FB8DE"/>
          </a:solidFill>
          <a:ln/>
        </p:spPr>
      </p:sp>
      <p:sp>
        <p:nvSpPr>
          <p:cNvPr id="19" name="Shape 17"/>
          <p:cNvSpPr/>
          <p:nvPr/>
        </p:nvSpPr>
        <p:spPr>
          <a:xfrm>
            <a:off x="5788152" y="2578608"/>
            <a:ext cx="237744" cy="237744"/>
          </a:xfrm>
          <a:prstGeom prst="ellipse">
            <a:avLst/>
          </a:prstGeom>
          <a:solidFill>
            <a:srgbClr val="7A003C"/>
          </a:solidFill>
          <a:ln/>
        </p:spPr>
      </p:sp>
      <p:sp>
        <p:nvSpPr>
          <p:cNvPr id="20" name="Text 18"/>
          <p:cNvSpPr/>
          <p:nvPr/>
        </p:nvSpPr>
        <p:spPr>
          <a:xfrm>
            <a:off x="5751576" y="2641519"/>
            <a:ext cx="310896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AVL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949440" y="254203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986016" y="2578608"/>
            <a:ext cx="237744" cy="237744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2641519"/>
            <a:ext cx="310896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NCL</a:t>
            </a:r>
            <a:endParaRPr lang="en-US" sz="7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40080" y="2926080"/>
          <a:ext cx="7772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8686800" y="2926080"/>
            <a:ext cx="2926080" cy="274320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26" name="Text 23"/>
          <p:cNvSpPr/>
          <p:nvPr/>
        </p:nvSpPr>
        <p:spPr>
          <a:xfrm>
            <a:off x="8869680" y="30632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7600" dirty="0"/>
          </a:p>
        </p:txBody>
      </p:sp>
      <p:sp>
        <p:nvSpPr>
          <p:cNvPr id="27" name="Text 24"/>
          <p:cNvSpPr/>
          <p:nvPr/>
        </p:nvSpPr>
        <p:spPr>
          <a:xfrm>
            <a:off x="8869680" y="4069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9601200" y="4526280"/>
            <a:ext cx="914400" cy="0"/>
          </a:xfrm>
          <a:prstGeom prst="line">
            <a:avLst/>
          </a:prstGeom>
          <a:noFill/>
          <a:ln w="12700">
            <a:solidFill>
              <a:srgbClr val="FCF6F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869680" y="46634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Outperformance: 6th on the table from a 17th-ranked wage bill.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0080" y="5806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£0.98m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2011680" y="5852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 cost per league point — lowest in the Premier League.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343400" y="5806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+12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5715000" y="5852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over-performance — fifth-best in the league.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8046720" y="5806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1.5%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9418320" y="5852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turnover by fee — focused and disciplined.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99001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AFCB · TRANSFER POLICY DEEP DIVE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PEER COMPARISON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Smart-money cohort: Bournemouth, Brighton, Brentford.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371600" cy="0"/>
          </a:xfrm>
          <a:prstGeom prst="line">
            <a:avLst/>
          </a:prstGeom>
          <a:noFill/>
          <a:ln w="19050">
            <a:solidFill>
              <a:srgbClr val="9900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86000"/>
            <a:ext cx="10972800" cy="502920"/>
          </a:xfrm>
          <a:prstGeom prst="rect">
            <a:avLst/>
          </a:prstGeom>
          <a:solidFill>
            <a:srgbClr val="0E1A36"/>
          </a:solidFill>
          <a:ln/>
        </p:spPr>
      </p:sp>
      <p:sp>
        <p:nvSpPr>
          <p:cNvPr id="6" name="Shape 4"/>
          <p:cNvSpPr/>
          <p:nvPr/>
        </p:nvSpPr>
        <p:spPr>
          <a:xfrm>
            <a:off x="4160520" y="2354580"/>
            <a:ext cx="365760" cy="365760"/>
          </a:xfrm>
          <a:prstGeom prst="ellipse">
            <a:avLst/>
          </a:prstGeom>
          <a:solidFill>
            <a:srgbClr val="FCF6F5"/>
          </a:solidFill>
          <a:ln/>
        </p:spPr>
      </p:sp>
      <p:sp>
        <p:nvSpPr>
          <p:cNvPr id="7" name="Shape 5"/>
          <p:cNvSpPr/>
          <p:nvPr/>
        </p:nvSpPr>
        <p:spPr>
          <a:xfrm>
            <a:off x="4197096" y="2391156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8" name="Text 6"/>
          <p:cNvSpPr/>
          <p:nvPr/>
        </p:nvSpPr>
        <p:spPr>
          <a:xfrm>
            <a:off x="4160520" y="2471623"/>
            <a:ext cx="365760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CF6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BMH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903720" y="2354580"/>
            <a:ext cx="365760" cy="36576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10" name="Shape 8"/>
          <p:cNvSpPr/>
          <p:nvPr/>
        </p:nvSpPr>
        <p:spPr>
          <a:xfrm>
            <a:off x="6940296" y="2391156"/>
            <a:ext cx="292608" cy="292608"/>
          </a:xfrm>
          <a:prstGeom prst="ellipse">
            <a:avLst/>
          </a:prstGeom>
          <a:solidFill>
            <a:srgbClr val="0057B7"/>
          </a:solidFill>
          <a:ln/>
        </p:spPr>
      </p:sp>
      <p:sp>
        <p:nvSpPr>
          <p:cNvPr id="11" name="Text 9"/>
          <p:cNvSpPr/>
          <p:nvPr/>
        </p:nvSpPr>
        <p:spPr>
          <a:xfrm>
            <a:off x="6903720" y="2471623"/>
            <a:ext cx="365760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BHA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646920" y="2354580"/>
            <a:ext cx="365760" cy="36576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3" name="Shape 11"/>
          <p:cNvSpPr/>
          <p:nvPr/>
        </p:nvSpPr>
        <p:spPr>
          <a:xfrm>
            <a:off x="9683496" y="2391156"/>
            <a:ext cx="292608" cy="29260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9646920" y="2471623"/>
            <a:ext cx="365760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BFC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404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24048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60920" y="24048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04120" y="2404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BRENTFORD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788920"/>
            <a:ext cx="1097280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0" y="2788920"/>
            <a:ext cx="2697480" cy="393192"/>
          </a:xfrm>
          <a:prstGeom prst="rect">
            <a:avLst/>
          </a:prstGeom>
          <a:solidFill>
            <a:srgbClr val="F5E5E5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852928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Recruitment philosophy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0" y="2852928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0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Pinto + data team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0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(continental Europe)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2852928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data engine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(global, deep markets)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92640" y="285292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Smartodds, set-pieces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(Scandinavia, Championship)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182112"/>
            <a:ext cx="10972800" cy="393192"/>
          </a:xfrm>
          <a:prstGeom prst="rect">
            <a:avLst/>
          </a:prstGeom>
          <a:solidFill>
            <a:srgbClr val="FCF6F5"/>
          </a:solidFill>
          <a:ln/>
        </p:spPr>
      </p:sp>
      <p:sp>
        <p:nvSpPr>
          <p:cNvPr id="26" name="Shape 24"/>
          <p:cNvSpPr/>
          <p:nvPr/>
        </p:nvSpPr>
        <p:spPr>
          <a:xfrm>
            <a:off x="4114800" y="3182112"/>
            <a:ext cx="2697480" cy="393192"/>
          </a:xfrm>
          <a:prstGeom prst="rect">
            <a:avLst/>
          </a:prstGeom>
          <a:solidFill>
            <a:srgbClr val="F1D6D6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246120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Avg buy age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06240" y="324612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0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0" y="324612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92640" y="324612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3575304"/>
            <a:ext cx="1097280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0" y="3575304"/>
            <a:ext cx="2697480" cy="393192"/>
          </a:xfrm>
          <a:prstGeom prst="rect">
            <a:avLst/>
          </a:prstGeom>
          <a:solidFill>
            <a:srgbClr val="F5E5E5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3639312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Avg buy fee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06240" y="3639312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0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£14.2m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49440" y="3639312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£17.1m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92640" y="363931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£12.4m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3968496"/>
            <a:ext cx="10972800" cy="393192"/>
          </a:xfrm>
          <a:prstGeom prst="rect">
            <a:avLst/>
          </a:prstGeom>
          <a:solidFill>
            <a:srgbClr val="FCF6F5"/>
          </a:solidFill>
          <a:ln/>
        </p:spPr>
      </p:sp>
      <p:sp>
        <p:nvSpPr>
          <p:cNvPr id="38" name="Shape 36"/>
          <p:cNvSpPr/>
          <p:nvPr/>
        </p:nvSpPr>
        <p:spPr>
          <a:xfrm>
            <a:off x="4114800" y="3968496"/>
            <a:ext cx="2697480" cy="393192"/>
          </a:xfrm>
          <a:prstGeom prst="rect">
            <a:avLst/>
          </a:prstGeom>
          <a:solidFill>
            <a:srgbClr val="F1D6D6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4032504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3-year sales total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206240" y="403250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0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£228m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49440" y="403250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£412m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692640" y="403250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£196m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" y="4361688"/>
            <a:ext cx="1097280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4114800" y="4361688"/>
            <a:ext cx="2697480" cy="393192"/>
          </a:xfrm>
          <a:prstGeom prst="rect">
            <a:avLst/>
          </a:prstGeom>
          <a:solidFill>
            <a:srgbClr val="F5E5E5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4425696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3-year net profit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206240" y="4425696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0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+£86m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949440" y="4425696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+£166m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692640" y="4425696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+£72m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0080" y="4754880"/>
            <a:ext cx="10972800" cy="393192"/>
          </a:xfrm>
          <a:prstGeom prst="rect">
            <a:avLst/>
          </a:prstGeom>
          <a:solidFill>
            <a:srgbClr val="FCF6F5"/>
          </a:solidFill>
          <a:ln/>
        </p:spPr>
      </p:sp>
      <p:sp>
        <p:nvSpPr>
          <p:cNvPr id="50" name="Shape 48"/>
          <p:cNvSpPr/>
          <p:nvPr/>
        </p:nvSpPr>
        <p:spPr>
          <a:xfrm>
            <a:off x="4114800" y="4754880"/>
            <a:ext cx="2697480" cy="393192"/>
          </a:xfrm>
          <a:prstGeom prst="rect">
            <a:avLst/>
          </a:prstGeom>
          <a:solidFill>
            <a:srgbClr val="F1D6D6"/>
          </a:solidFill>
          <a:ln/>
        </p:spPr>
      </p:sp>
      <p:sp>
        <p:nvSpPr>
          <p:cNvPr id="51" name="Text 49"/>
          <p:cNvSpPr/>
          <p:nvPr/>
        </p:nvSpPr>
        <p:spPr>
          <a:xfrm>
            <a:off x="731520" y="4818888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Multi-club?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206240" y="4818888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0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(BKFC, 4 clubs)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949440" y="4818888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SG (Belgium)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692640" y="481888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40080" y="5148072"/>
            <a:ext cx="1097280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4114800" y="5148072"/>
            <a:ext cx="2697480" cy="393192"/>
          </a:xfrm>
          <a:prstGeom prst="rect">
            <a:avLst/>
          </a:prstGeom>
          <a:solidFill>
            <a:srgbClr val="F5E5E5"/>
          </a:solidFill>
          <a:ln/>
        </p:spPr>
      </p:sp>
      <p:sp>
        <p:nvSpPr>
          <p:cNvPr id="57" name="Text 55"/>
          <p:cNvSpPr/>
          <p:nvPr/>
        </p:nvSpPr>
        <p:spPr>
          <a:xfrm>
            <a:off x="731520" y="5212080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League position '25-26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206240" y="521208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0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6th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949440" y="521208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8th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692640" y="521208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11th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40080" y="5541264"/>
            <a:ext cx="10972800" cy="393192"/>
          </a:xfrm>
          <a:prstGeom prst="rect">
            <a:avLst/>
          </a:prstGeom>
          <a:solidFill>
            <a:srgbClr val="FCF6F5"/>
          </a:solidFill>
          <a:ln/>
        </p:spPr>
      </p:sp>
      <p:sp>
        <p:nvSpPr>
          <p:cNvPr id="62" name="Shape 60"/>
          <p:cNvSpPr/>
          <p:nvPr/>
        </p:nvSpPr>
        <p:spPr>
          <a:xfrm>
            <a:off x="4114800" y="5541264"/>
            <a:ext cx="2697480" cy="393192"/>
          </a:xfrm>
          <a:prstGeom prst="rect">
            <a:avLst/>
          </a:prstGeom>
          <a:solidFill>
            <a:srgbClr val="F1D6D6"/>
          </a:solidFill>
          <a:ln/>
        </p:spPr>
      </p:sp>
      <p:sp>
        <p:nvSpPr>
          <p:cNvPr id="63" name="Text 61"/>
          <p:cNvSpPr/>
          <p:nvPr/>
        </p:nvSpPr>
        <p:spPr>
          <a:xfrm>
            <a:off x="731520" y="5605272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/ point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206240" y="5605272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0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£0.98m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949440" y="5605272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£1.44m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9692640" y="560527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£1.18m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point uses 2025-26 reported wage bills divided by Premier League points (May '26).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99001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AFCB · TRANSFER POLICY DEEP DIVE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RISKS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could break the model.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371600" cy="0"/>
          </a:xfrm>
          <a:prstGeom prst="line">
            <a:avLst/>
          </a:prstGeom>
          <a:noFill/>
          <a:ln w="19050">
            <a:solidFill>
              <a:srgbClr val="9900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40280"/>
            <a:ext cx="10972800" cy="914400"/>
          </a:xfrm>
          <a:prstGeom prst="rect">
            <a:avLst/>
          </a:prstGeom>
          <a:solidFill>
            <a:srgbClr val="FCF6F5"/>
          </a:solidFill>
          <a:ln w="6350">
            <a:solidFill>
              <a:srgbClr val="EFE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40280"/>
            <a:ext cx="64008" cy="914400"/>
          </a:xfrm>
          <a:prstGeom prst="rect">
            <a:avLst/>
          </a:prstGeom>
          <a:solidFill>
            <a:srgbClr val="99001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0487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Iraola loss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80160" y="2697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system is the development engine. A coaching change without continuity rewires the entire pipeline.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98080" y="23317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498080" y="26060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documented playing identity; like-for-like succession profile in the Iraola coaching tree.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3246120"/>
            <a:ext cx="10972800" cy="914400"/>
          </a:xfrm>
          <a:prstGeom prst="rect">
            <a:avLst/>
          </a:prstGeom>
          <a:solidFill>
            <a:srgbClr val="FCF6F5"/>
          </a:solidFill>
          <a:ln w="6350">
            <a:solidFill>
              <a:srgbClr val="EFE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3246120"/>
            <a:ext cx="64008" cy="914400"/>
          </a:xfrm>
          <a:prstGeom prst="rect">
            <a:avLst/>
          </a:prstGeom>
          <a:solidFill>
            <a:srgbClr val="99001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41071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8016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Pinto exit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280160" y="3703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Director-of-Football continuity is rare in football. The market for Pinto from a top-five league is open.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498080" y="33375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7498080" y="36118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scouting structure (not individual) carries the IP; deputy bench in place.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40080" y="4251960"/>
            <a:ext cx="10972800" cy="914400"/>
          </a:xfrm>
          <a:prstGeom prst="rect">
            <a:avLst/>
          </a:prstGeom>
          <a:solidFill>
            <a:srgbClr val="FCF6F5"/>
          </a:solidFill>
          <a:ln w="6350">
            <a:solidFill>
              <a:srgbClr val="EFE5E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0080" y="4251960"/>
            <a:ext cx="64008" cy="914400"/>
          </a:xfrm>
          <a:prstGeom prst="rect">
            <a:avLst/>
          </a:prstGeom>
          <a:solidFill>
            <a:srgbClr val="99001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416552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8016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Saturated talent pools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280160" y="47091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smart clubs (Brighton, Brentford, Sporting) are hunting the same Ligue 2 / Eredivisie U-23 cohort.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7498080" y="43434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7498080" y="46177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multi-club access opens lower-visibility leagues (Scottish Premiership, A-League, NZ).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40080" y="5257800"/>
            <a:ext cx="10972800" cy="914400"/>
          </a:xfrm>
          <a:prstGeom prst="rect">
            <a:avLst/>
          </a:prstGeom>
          <a:solidFill>
            <a:srgbClr val="FCF6F5"/>
          </a:solidFill>
          <a:ln w="6350">
            <a:solidFill>
              <a:srgbClr val="EFE5E1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40080" y="5257800"/>
            <a:ext cx="64008" cy="914400"/>
          </a:xfrm>
          <a:prstGeom prst="rect">
            <a:avLst/>
          </a:prstGeom>
          <a:solidFill>
            <a:srgbClr val="990011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422392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280160" y="5349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 injuries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1280160" y="5715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sale rests on a Premier League highlight reel. Long-term injury can collapse a £40m transfer to £15m overnight.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498080" y="53492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7498080" y="56235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insurance; depth charts; positional duplication policy after each major sale.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990011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AFCB · TRANSFER POLICY DEEP DIVE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LESSONS FOR OTHER CLUBS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Reproducible — but not without discipline.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371600" cy="0"/>
          </a:xfrm>
          <a:prstGeom prst="line">
            <a:avLst/>
          </a:prstGeom>
          <a:noFill/>
          <a:ln w="19050">
            <a:solidFill>
              <a:srgbClr val="C832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C8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737360" y="2377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 is the enemy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28803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at the first peak demands the willingness to lose a fan favourite. Most clubs flinch and lose 50% of the value.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63640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C8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60920" y="2377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owner sets the metabolism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60920" y="28803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Foley runs AFCB like a portfolio. PSR-aware. Multi-club. Patient. Boards that need vanity wins can't run this play.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C8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737360" y="4206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Coaching is recruitment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47091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Iraola is the exit-velocity machine. Without a coach who reliably elevates players, the trading thesis collapses.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C8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360920" y="4206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beats stars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60920" y="47091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the £50m sale that matters — it's the certainty that the next one is already growing in the squad.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C832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AFCB · TRANSFER POLICY DEEP DIVE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THOUGHT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371600" cy="0"/>
          </a:xfrm>
          <a:prstGeom prst="line">
            <a:avLst/>
          </a:prstGeom>
          <a:noFill/>
          <a:ln w="19050">
            <a:solidFill>
              <a:srgbClr val="FCF6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737360"/>
            <a:ext cx="10972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4400" i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"Bournemouth aren't a club</a:t>
            </a:r>
            <a:endParaRPr lang="en-US" sz="4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400" i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punching above their weight.</a:t>
            </a:r>
            <a:endParaRPr lang="en-US" sz="4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400" i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They're a club that figured out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6634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new weight class first."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5943600"/>
            <a:ext cx="548640" cy="0"/>
          </a:xfrm>
          <a:prstGeom prst="line">
            <a:avLst/>
          </a:prstGeom>
          <a:noFill/>
          <a:ln w="12700">
            <a:solidFill>
              <a:srgbClr val="FCF6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300" kern="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senior football executive, anonymous (May 2026)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SOURCES &amp; METHODOLOGY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&amp; disclosure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371600" cy="0"/>
          </a:xfrm>
          <a:prstGeom prst="line">
            <a:avLst/>
          </a:prstGeom>
          <a:noFill/>
          <a:ln w="1905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94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Transfermarkt — squad market values, transfer fees, contract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official site &amp; FBref — points, goals, xG, wages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BBC Sport, Athletic, Sky Sports — qualitative reporting on Iraola era and Pinto appointment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AFCB official communications and Black Knight Football Club press releases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House and FA filings for Black Knight ownership structure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4846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point: latest reported wage bill ÷ 2025-26 PL points as of May 2026. Profit calculations use reported transfer fees plus add-ons where disclosed. Some signing fees illustrative.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0" y="2194560"/>
            <a:ext cx="3383280" cy="2194560"/>
          </a:xfrm>
          <a:prstGeom prst="rect">
            <a:avLst/>
          </a:prstGeom>
          <a:solidFill>
            <a:srgbClr val="0E1A36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0" y="26974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piece — not commissioned by AFC Bournemouth or Black Knight Football Club. Brand colours referenced. Public data only.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9900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AFCB · TRANSFER POLICY DEEP DIVE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 /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AFC Bournemouth — The Cherries' Playbook</dc:title>
  <dc:subject>PptxGenJS Presentation</dc:subject>
  <dc:creator>Sampson — for AFC Bournemouth case study</dc:creator>
  <cp:lastModifiedBy>Sampson — for AFC Bournemouth case study</cp:lastModifiedBy>
  <cp:revision>1</cp:revision>
  <dcterms:created xsi:type="dcterms:W3CDTF">2026-05-08T20:37:12Z</dcterms:created>
  <dcterms:modified xsi:type="dcterms:W3CDTF">2026-05-08T20:37:12Z</dcterms:modified>
</cp:coreProperties>
</file>