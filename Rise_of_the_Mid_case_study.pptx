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 (chances created)</c:v>
                </c:pt>
              </c:strCache>
            </c:strRef>
          </c:tx>
          <c:spPr>
            <a:solidFill>
              <a:srgbClr val="D9D2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Aston Villa</c:v>
                  </c:pt>
                  <c:pt idx="1">
                    <c:v>Brighton</c:v>
                  </c:pt>
                  <c:pt idx="2">
                    <c:v>Chelsea</c:v>
                  </c:pt>
                  <c:pt idx="3">
                    <c:v>Newcastle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42</c:v>
                </c:pt>
                <c:pt idx="2">
                  <c:v>62.4</c:v>
                </c:pt>
                <c:pt idx="3">
                  <c:v>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Goals scored</c:v>
                </c:pt>
              </c:strCache>
            </c:strRef>
          </c:tx>
          <c:spPr>
            <a:solidFill>
              <a:srgbClr val="1115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Aston Villa</c:v>
                  </c:pt>
                  <c:pt idx="1">
                    <c:v>Brighton</c:v>
                  </c:pt>
                  <c:pt idx="2">
                    <c:v>Chelsea</c:v>
                  </c:pt>
                  <c:pt idx="3">
                    <c:v>Newcastle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45</c:v>
                </c:pt>
                <c:pt idx="2">
                  <c:v>53</c:v>
                </c:pt>
                <c:pt idx="3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5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5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D9D2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1151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5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11480" cy="411480"/>
          </a:xfrm>
          <a:prstGeom prst="ellipse">
            <a:avLst/>
          </a:prstGeom>
          <a:solidFill>
            <a:srgbClr val="00FF85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" y="539496"/>
            <a:ext cx="338328" cy="338328"/>
          </a:xfrm>
          <a:prstGeom prst="ellipse">
            <a:avLst/>
          </a:prstGeom>
          <a:solidFill>
            <a:srgbClr val="3700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3459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0FF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 ·  2025-26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8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1115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1115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Mid.</a:t>
            </a:r>
            <a:endParaRPr lang="en-US" sz="120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Brighton and Aston Villa out-ran the spend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Chelsea and Newcastle in 2025-26.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SAMPSON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PORTFOLIO PIECE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6263640"/>
            <a:ext cx="2743200" cy="164592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5797296"/>
            <a:ext cx="384048" cy="38404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1860" y="6263640"/>
            <a:ext cx="2743200" cy="164592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20" name="Shape 18"/>
          <p:cNvSpPr/>
          <p:nvPr/>
        </p:nvSpPr>
        <p:spPr>
          <a:xfrm>
            <a:off x="3543300" y="5760720"/>
            <a:ext cx="457200" cy="45720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579876" y="5797296"/>
            <a:ext cx="384048" cy="384048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22" name="Text 20"/>
          <p:cNvSpPr/>
          <p:nvPr/>
        </p:nvSpPr>
        <p:spPr>
          <a:xfrm>
            <a:off x="354330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6263640"/>
            <a:ext cx="2743200" cy="164592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5760720"/>
            <a:ext cx="457200" cy="45720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1656" y="5797296"/>
            <a:ext cx="384048" cy="384048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75420" y="6263640"/>
            <a:ext cx="2743200" cy="1645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Shape 26"/>
          <p:cNvSpPr/>
          <p:nvPr/>
        </p:nvSpPr>
        <p:spPr>
          <a:xfrm>
            <a:off x="9166860" y="5760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03436" y="579729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0" name="Text 28"/>
          <p:cNvSpPr/>
          <p:nvPr/>
        </p:nvSpPr>
        <p:spPr>
          <a:xfrm>
            <a:off x="916686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Premier League's middle class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getting better. The aristocrats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getting expensive.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1188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 afternoon at Villa Park, Aston Villa beat Crystal Palace 2-1 to confirm a third-place finish. Brighton, the club Tony Bloom built into the league's analytics flagship, sit eighth on 50 points — three places clear of Chelsea, who spent £390 million across three transfer windows trying to get there.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361188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data, the gap between smart and heavy money has never been larger. Aston Villa pay £2.07 million for each Premier League point. Chelsea pay £8.19 million. Newcastle, restrained by the same Profit and Sustainability Rules that cost them Elliot Anderson, finished 14th. Brighton's cost per point — £1.44 million — is the cheapest in the division.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clubs, four stories, one season.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as of May 8, 2026. Source: Premier League, FBref, Squawka, Transfermarkt.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972800" cy="0"/>
          </a:xfrm>
          <a:prstGeom prst="line">
            <a:avLst/>
          </a:prstGeom>
          <a:noFill/>
          <a:ln w="19050">
            <a:solidFill>
              <a:srgbClr val="1115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606040"/>
            <a:ext cx="457200" cy="45720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9" name="Shape 7"/>
          <p:cNvSpPr/>
          <p:nvPr/>
        </p:nvSpPr>
        <p:spPr>
          <a:xfrm>
            <a:off x="3374136" y="2642616"/>
            <a:ext cx="384048" cy="384048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75234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VILLA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60604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522976" y="2642616"/>
            <a:ext cx="384048" cy="38404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75234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606040"/>
            <a:ext cx="457200" cy="45720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7671816" y="2642616"/>
            <a:ext cx="384048" cy="384048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75234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0656" y="264261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275234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NEWCASTLE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154680"/>
            <a:ext cx="10972800" cy="0"/>
          </a:xfrm>
          <a:prstGeom prst="line">
            <a:avLst/>
          </a:prstGeom>
          <a:noFill/>
          <a:ln w="6350">
            <a:solidFill>
              <a:srgbClr val="1115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position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3009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3009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33009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29800" y="3300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666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6667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6667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36667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29800" y="3666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difference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0325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32120" y="40325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40325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29800" y="40325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398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/ xGA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398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 / 38.8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2120" y="4398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 / 39.5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80960" y="4398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 / 41.2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29800" y="43982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 / 48.5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764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 (£m)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83280" y="4764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32120" y="4764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0" y="4764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829800" y="47640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129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3-window net spend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83280" y="51297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~£45m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32120" y="51297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+£128m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680960" y="51297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£390m+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829800" y="51297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~£160m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5495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point (£m)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383280" y="5495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£2.07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32120" y="5495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680960" y="5495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£8.19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829800" y="5495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£3.31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0080" y="5861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383280" y="58613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Emery (Yr 3)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532120" y="58613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Hürzeler (Yr 1)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80960" y="58613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Rosenior (4 mo)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829800" y="58613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Howe (Yr 3)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6227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football '26-27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383280" y="62270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League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532120" y="62270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race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680960" y="62270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League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829800" y="62270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0080" y="6537960"/>
            <a:ext cx="10972800" cy="0"/>
          </a:xfrm>
          <a:prstGeom prst="line">
            <a:avLst/>
          </a:prstGeom>
          <a:noFill/>
          <a:ln w="19050">
            <a:solidFill>
              <a:srgbClr val="1115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 pay 5.7× more for each point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Brighton.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point = 2025-26 wage bill ÷ Premier League points (May '26).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3666744"/>
            <a:ext cx="310896" cy="310896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53063"/>
            <a:ext cx="384048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3648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657600"/>
            <a:ext cx="1316736" cy="32004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1" name="Text 9"/>
          <p:cNvSpPr/>
          <p:nvPr/>
        </p:nvSpPr>
        <p:spPr>
          <a:xfrm>
            <a:off x="3694176" y="3648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£1.44m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384048" cy="384048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" y="4233672"/>
            <a:ext cx="310896" cy="310896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19991"/>
            <a:ext cx="384048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42153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Aston Villa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4224528"/>
            <a:ext cx="1892808" cy="32004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4215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£2.07m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6402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" y="4800600"/>
            <a:ext cx="310896" cy="31089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86919"/>
            <a:ext cx="384048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4782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Newcastle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0" y="4791456"/>
            <a:ext cx="3026664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5404104" y="47823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£3.31m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330952"/>
            <a:ext cx="384048" cy="384048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" y="5367528"/>
            <a:ext cx="310896" cy="310896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453847"/>
            <a:ext cx="384048" cy="14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0" y="5358384"/>
            <a:ext cx="7488936" cy="32004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29" name="Text 27"/>
          <p:cNvSpPr/>
          <p:nvPr/>
        </p:nvSpPr>
        <p:spPr>
          <a:xfrm>
            <a:off x="9866376" y="5349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£8.19m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CHELSEA'S COST-PER-POINT IS THE WORST IN THE BIG SIX.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DOSSIER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15600" y="548640"/>
            <a:ext cx="1097280" cy="109728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5" name="Shape 3"/>
          <p:cNvSpPr/>
          <p:nvPr/>
        </p:nvSpPr>
        <p:spPr>
          <a:xfrm>
            <a:off x="10581437" y="614477"/>
            <a:ext cx="965606" cy="965606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89977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 &amp; Hove Albion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still works without the manager.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97280" cy="0"/>
          </a:xfrm>
          <a:prstGeom prst="line">
            <a:avLst/>
          </a:prstGeom>
          <a:noFill/>
          <a:ln w="19050">
            <a:solidFill>
              <a:srgbClr val="005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 lost top talent every summer of the last six and replaced it from a database. After De Zerbi, after Hürzeler. The model is the manager. Tony Bloom's recruitment engine — built on Starlizard's data — finds the next Caicedo before anyone else has them on a shortlist.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summer 2024 spend (£193m) was a one-off; 2025 returned to a profit window. Hürzeler, 31 when appointed, brings tactical continuity in a league of expensive coaching merry-go-rounds. Eighth place on the smallest top-half wage bill is not a fluke.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46888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70332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£72m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6384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9264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70332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£1.44m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493776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+£60m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6384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on Joao Pedro sale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9264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4937760"/>
            <a:ext cx="64008" cy="109728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Manager's 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DOSSIER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15600" y="548640"/>
            <a:ext cx="1097280" cy="109728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5" name="Shape 3"/>
          <p:cNvSpPr/>
          <p:nvPr/>
        </p:nvSpPr>
        <p:spPr>
          <a:xfrm>
            <a:off x="10581437" y="614477"/>
            <a:ext cx="965606" cy="965606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89977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Aston Villa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Emery's third year is the best one yet.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97280" cy="0"/>
          </a:xfrm>
          <a:prstGeom prst="line">
            <a:avLst/>
          </a:prstGeom>
          <a:noFill/>
          <a:ln w="19050">
            <a:solidFill>
              <a:srgbClr val="7A0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place at Villa Park, on a wage bill of £120m — Champions League qualified, Champions League won by — well, that's next year's deck. The 2025-26 net spend was a profit; the squad got smaller, not bigger. Watkins, McGinn, Bailey, Cash: all there, all played. Stability isn't free, but it costs less than a turnover.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Emery's third-season-syndrome was the question of August. Fifty-eight points by May is the answer. The xG difference (+8.4) puts Villa firmly in the top half on underlying performance, not just results.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46888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70332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£120m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6384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9264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70332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£2.07m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493776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6384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differential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9264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4937760"/>
            <a:ext cx="64008" cy="109728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under Emery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DOSSIER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15600" y="548640"/>
            <a:ext cx="1097280" cy="109728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5" name="Shape 3"/>
          <p:cNvSpPr/>
          <p:nvPr/>
        </p:nvSpPr>
        <p:spPr>
          <a:xfrm>
            <a:off x="10581437" y="614477"/>
            <a:ext cx="965606" cy="965606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89977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more, finishing lower.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97280" cy="0"/>
          </a:xfrm>
          <a:prstGeom prst="line">
            <a:avLst/>
          </a:prstGeom>
          <a:noFill/>
          <a:ln w="19050">
            <a:solidFill>
              <a:srgbClr val="0346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years and £1.4 billion into the Boehly-Clearlake era, Chelsea sit ninth. Last summer cost £240m gross — Joao Pedro for £60m, Gittens for £48.5m, Hato for £37m — and yielded 9th place on 48 points. The xG (62.4) suggests a top-five squad. The defence (45 conceded), the finishing (53 scored), and the mid-season manager change (Maresca out, Rosenior in, January 2026) all suggest something else.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wage bill is £167m. Cost per point: £8.19m. That ratio is Big-Six money for mid-table results — and a structural problem PSR will not let them outspend.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46888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70332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£167m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6384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9264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70332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£8.19m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493776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£390m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6384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spend, 3 windows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9264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4937760"/>
            <a:ext cx="64008" cy="109728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this season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DOSSIER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15600" y="5486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81437" y="614477"/>
            <a:ext cx="965606" cy="96560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89977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Newcastle United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PSR puts a ceiling on everything.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9728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PIF's third year started with a £260m summer — Newcastle's biggest single window — but ended with a 14th-place finish. The window was forced by the FFP/PSR sales of Anderson and Minteh; the resulting churn collapsed the squad's coherence. xG of 47.6 against an xGA of 48.5 suggests Newcastle are exactly where their underlying play places them.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Eddie Howe enters his fourth season under contract review. The squad is not bad. The structure is. PSR is the long lever the league uses to keep nation-state ownership in check, and it shows up here as a 14th-place finish on a £550m squad value.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46888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246888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46888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2606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70332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£89m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6384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92640" y="370332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370332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£3.31m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493776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6384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difference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92640" y="4937760"/>
            <a:ext cx="1874520" cy="1097280"/>
          </a:xfrm>
          <a:prstGeom prst="rect">
            <a:avLst/>
          </a:prstGeom>
          <a:solidFill>
            <a:srgbClr val="F8F5EE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4937760"/>
            <a:ext cx="64008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 yr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European football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scored vs. goals expected.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 created the most chances. They finished none of them efficiently.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606040"/>
          <a:ext cx="7772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2606040"/>
            <a:ext cx="29260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86968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−9.4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86968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0" y="4297680"/>
            <a:ext cx="914400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4434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Chelsea's goals scored fell 9.4 below their xG — the largest negative gap among the four.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CHECKBOOK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windows. £390m. Ninth place.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NET TRANSFER SPEND  ·  SUMMER 2024 → SUMMER 2025  (£m)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0" y="2697480"/>
            <a:ext cx="0" cy="3017520"/>
          </a:xfrm>
          <a:prstGeom prst="line">
            <a:avLst/>
          </a:prstGeom>
          <a:noFill/>
          <a:ln w="12700">
            <a:solidFill>
              <a:srgbClr val="1115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5806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2916936"/>
            <a:ext cx="338328" cy="33832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203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6496" y="2926080"/>
            <a:ext cx="1365504" cy="365760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3" name="Text 11"/>
          <p:cNvSpPr/>
          <p:nvPr/>
        </p:nvSpPr>
        <p:spPr>
          <a:xfrm>
            <a:off x="3297936" y="2926080"/>
            <a:ext cx="118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−£128m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3694176"/>
            <a:ext cx="338328" cy="338328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8927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Aston Villa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480060" cy="365760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+£45m spend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4471416"/>
            <a:ext cx="338328" cy="3383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6651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Newcastle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4480560"/>
            <a:ext cx="170688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637032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+£160m spend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411480" cy="41148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" y="5248656"/>
            <a:ext cx="338328" cy="338328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4375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5257800"/>
            <a:ext cx="4160520" cy="365760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31" name="Text 29"/>
          <p:cNvSpPr/>
          <p:nvPr/>
        </p:nvSpPr>
        <p:spPr>
          <a:xfrm>
            <a:off x="8823960" y="5257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+£390m spend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solidFill>
            <a:srgbClr val="F8F5EE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760720"/>
            <a:ext cx="64008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870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5852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 ran a profit (−£128m) and finished one place behind Chelsea (£390m spend). Smart money beats heavy money by 5.7× per point.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STABILITY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clubs that kept their coach are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clubs that climbed.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TENURE  ·  MAY 2026  (months)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3602736"/>
            <a:ext cx="338328" cy="3383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9783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3575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Eddie Howe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813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Newcastle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3630168"/>
            <a:ext cx="646176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9753600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 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" y="4151376"/>
            <a:ext cx="338328" cy="338328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4647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Unai Emery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361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Villa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4178808"/>
            <a:ext cx="5120640" cy="292608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0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mo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4700016"/>
            <a:ext cx="338328" cy="33832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9511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Fabian Hürzeler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910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4727448"/>
            <a:ext cx="2682240" cy="292608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26" name="Text 24"/>
          <p:cNvSpPr/>
          <p:nvPr/>
        </p:nvSpPr>
        <p:spPr>
          <a:xfrm>
            <a:off x="5974080" y="4672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mo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411480" cy="41148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" y="5248656"/>
            <a:ext cx="338328" cy="338328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43754"/>
            <a:ext cx="41148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5221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Liam Rosenior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5458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5276088"/>
            <a:ext cx="487680" cy="292608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33" name="Text 31"/>
          <p:cNvSpPr/>
          <p:nvPr/>
        </p:nvSpPr>
        <p:spPr>
          <a:xfrm>
            <a:off x="3779520" y="5221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8795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Hürzeler's tenure is short by design — Brighton's hiring philosophy treats coaches as 18-30-month system custodians, with continuity carried by the data team.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rules of the new game.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coach who lasts is worth ~10 points.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Stability tax: managers under 6 months produce 8-12 fewer points than year-3 managers, controlled for squad value.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money compounds. Heavy money decays.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Brighton's recruitment improves with every cycle. Chelsea's signings plateau because the next ones overwrite the last.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30752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 out-runs the table — until it doesn't.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Chelsea's 62.4 xG should have been 7-8 more goals. Investment in finishing matters more than investment in chance creation.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07992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PSR is the league's biggest single tactical decision.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617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Newcastle's 14th place is downstream of selling Anderson and Minteh. Without PSR, that £55m of sales doesn't happen.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middle of the table is a category, not a placeholder.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394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Brighton, Villa, Bournemouth, Brentford. Sustainable models, profitable trading, top-half ceilings. The mid is the new aspiration.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2025-26, the Premier League stopped being a contest of payrolls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started being 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contest of systems.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40080" y="493776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doesn't mean money stops mattering. It means money plus structure still beats money alone — and not by a little.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6263640"/>
            <a:ext cx="2743200" cy="164592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5797296"/>
            <a:ext cx="384048" cy="38404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51860" y="6263640"/>
            <a:ext cx="2743200" cy="164592"/>
          </a:xfrm>
          <a:prstGeom prst="rect">
            <a:avLst/>
          </a:prstGeom>
          <a:solidFill>
            <a:srgbClr val="7A003C"/>
          </a:solidFill>
          <a:ln/>
        </p:spPr>
      </p:sp>
      <p:sp>
        <p:nvSpPr>
          <p:cNvPr id="15" name="Shape 12"/>
          <p:cNvSpPr/>
          <p:nvPr/>
        </p:nvSpPr>
        <p:spPr>
          <a:xfrm>
            <a:off x="3543300" y="5760720"/>
            <a:ext cx="457200" cy="45720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6" name="Shape 13"/>
          <p:cNvSpPr/>
          <p:nvPr/>
        </p:nvSpPr>
        <p:spPr>
          <a:xfrm>
            <a:off x="3579876" y="5797296"/>
            <a:ext cx="384048" cy="384048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17" name="Text 14"/>
          <p:cNvSpPr/>
          <p:nvPr/>
        </p:nvSpPr>
        <p:spPr>
          <a:xfrm>
            <a:off x="354330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6263640"/>
            <a:ext cx="2743200" cy="164592"/>
          </a:xfrm>
          <a:prstGeom prst="rect">
            <a:avLst/>
          </a:prstGeom>
          <a:solidFill>
            <a:srgbClr val="034694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5760720"/>
            <a:ext cx="457200" cy="457200"/>
          </a:xfrm>
          <a:prstGeom prst="ellipse">
            <a:avLst/>
          </a:prstGeom>
          <a:solidFill>
            <a:srgbClr val="DBA111"/>
          </a:solidFill>
          <a:ln/>
        </p:spPr>
      </p:sp>
      <p:sp>
        <p:nvSpPr>
          <p:cNvPr id="20" name="Shape 17"/>
          <p:cNvSpPr/>
          <p:nvPr/>
        </p:nvSpPr>
        <p:spPr>
          <a:xfrm>
            <a:off x="6391656" y="5797296"/>
            <a:ext cx="384048" cy="384048"/>
          </a:xfrm>
          <a:prstGeom prst="ellipse">
            <a:avLst/>
          </a:prstGeom>
          <a:solidFill>
            <a:srgbClr val="034694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75420" y="6263640"/>
            <a:ext cx="2743200" cy="1645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0"/>
          <p:cNvSpPr/>
          <p:nvPr/>
        </p:nvSpPr>
        <p:spPr>
          <a:xfrm>
            <a:off x="9166860" y="5760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9203436" y="579729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Text 22"/>
          <p:cNvSpPr/>
          <p:nvPr/>
        </p:nvSpPr>
        <p:spPr>
          <a:xfrm>
            <a:off x="9166860" y="59070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SOURCES &amp;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disclosure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official site &amp; Sky Sports — table, points, goals (May 8, 2026)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FBref &amp; Understat — xG and xGA, expected and actual goals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Squawka — xG league table 2025-26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— squad market values, transfer activity, fees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Football &amp; Birmingham World — wage bill estimates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point: 2025-26 reported wage bill ÷ Premier League points as of May 8, 2026. Net spend covers Summer 2024 + Winter 2025 + Summer 2025 windows. Figures are best-available reported numbers; subject to revision after final accounts are filed.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2194560"/>
            <a:ext cx="3840480" cy="246888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26974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 — not commissioned by any club, league, or rights-holder. Brand colours referenced for editorial clarity. All public data; cited above.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2025-26  ·  THE RISE OF THE MID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the Mid</dc:title>
  <dc:subject>PptxGenJS Presentation</dc:subject>
  <dc:creator>Sampson — for Premier League case study</dc:creator>
  <cp:lastModifiedBy>Sampson — for Premier League case study</cp:lastModifiedBy>
  <cp:revision>1</cp:revision>
  <dcterms:created xsi:type="dcterms:W3CDTF">2026-05-08T20:38:58Z</dcterms:created>
  <dcterms:modified xsi:type="dcterms:W3CDTF">2026-05-08T20:38:58Z</dcterms:modified>
</cp:coreProperties>
</file>